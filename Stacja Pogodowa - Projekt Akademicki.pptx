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Space Mono"/>
      <ns0:bold ns1:id="rIdFont19"/>
      <ns0:regular ns1:id="rIdFont20"/>
    </ns0:embeddedFont>
    <ns0:embeddedFont>
      <ns0:font typeface="Inter"/>
      <ns0:italic ns1:id="rIdFont21"/>
      <ns0:bold ns1:id="rIdFont22"/>
      <ns0:regular ns1:id="rIdFont23"/>
    </ns0:embeddedFont>
    <ns0:embeddedFont>
      <ns0:font typeface="Plus Jakarta Sans"/>
      <ns0:bold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c57e64d4-6110-40f6-b119-28412808b4a0.fntdata" /><ns0:Relationship Id="rIdFont20" Type="http://schemas.openxmlformats.org/officeDocument/2006/relationships/font" Target="fonts/22f862ea-1805-4b99-bcad-8c524cf200db.fntdata" /><ns0:Relationship Id="rIdFont21" Type="http://schemas.openxmlformats.org/officeDocument/2006/relationships/font" Target="fonts/7bf0a784-8dfa-4c6e-b460-d3e79ed550e5.fntdata" /><ns0:Relationship Id="rIdFont22" Type="http://schemas.openxmlformats.org/officeDocument/2006/relationships/font" Target="fonts/383cb4fd-e5a9-4be2-9982-dd0131258fb6.fntdata" /><ns0:Relationship Id="rIdFont23" Type="http://schemas.openxmlformats.org/officeDocument/2006/relationships/font" Target="fonts/c6c9c708-3a82-4adb-86de-3eb72bd55ecd.fntdata" /><ns0:Relationship Id="rIdFont24" Type="http://schemas.openxmlformats.org/officeDocument/2006/relationships/font" Target="fonts/9a1328f9-6032-4d84-a508-36a5bff73b8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27202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702147"/>
            <a:ext cx="3048000" cy="314325"/>
          </a:xfrm>
          <a:prstGeom prst="roundRect">
            <a:avLst>
              <a:gd name="adj" fmla="val 50000"/>
            </a:avLst>
          </a:prstGeom>
          <a:solidFill>
            <a:srgbClr val="0C2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527202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45072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Autonomiczna Stacja Pogodowa 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74702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System ciągłego pomiaru temperatury, wilgotności i prędkości wiatru z cyfrową transmisją danych telemetrycznych.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759297"/>
            <a:ext cx="2838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Mono"/>
              </a:rPr>
              <a:t>PROJEKT INŻYNIERSKI / AKADEMICKI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1900" y="1778347"/>
            <a:ext cx="2809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| Politechnika &amp; Wydział Informatyki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65327"/>
            <a:ext cx="2047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Platforma sprzętowa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65352"/>
            <a:ext cx="2047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Arduino / Raspberry 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4765327"/>
            <a:ext cx="2381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Zakres pomiarowy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900" y="4965352"/>
            <a:ext cx="2381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Temp / Wilgotność / Wiatr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4765327"/>
            <a:ext cx="21788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Protokół danych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4965352"/>
            <a:ext cx="2178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MQTT / Wi-Fi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4162"/>
            <a:ext cx="3454449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24162"/>
            <a:ext cx="3454449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24162"/>
            <a:ext cx="3454449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3138487"/>
            <a:ext cx="1905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3138487"/>
            <a:ext cx="2286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849" y="313848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Cel i Wskaźniki Projektu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Kluczowe Parametry Pomiarowe Systemu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700" y="3595687"/>
            <a:ext cx="353224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300" i="0" u="none">
                <a:solidFill>
                  <a:srgbClr val="0F172A"/>
                </a:solidFill>
                <a:latin typeface="Plus Jakarta Sans"/>
              </a:rPr>
              <a:t>±0.5°C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700" y="4129087"/>
            <a:ext cx="3532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Temperatura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700" y="4376737"/>
            <a:ext cx="35322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Precyzyjny odczyt w zakresie od -40°C do +80°C.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9949" y="3595687"/>
            <a:ext cx="353224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300" i="0" u="none">
                <a:solidFill>
                  <a:srgbClr val="0F172A"/>
                </a:solidFill>
                <a:latin typeface="Plus Jakarta Sans"/>
              </a:rPr>
              <a:t>2-5% RH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9949" y="4129087"/>
            <a:ext cx="3532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Wilgotność Względna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9949" y="4376737"/>
            <a:ext cx="353224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Cyfrowy czujnik z kalibracją fabryczną.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9199" y="3595687"/>
            <a:ext cx="353224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300" i="0" u="none">
                <a:solidFill>
                  <a:srgbClr val="0F172A"/>
                </a:solidFill>
                <a:latin typeface="Plus Jakarta Sans"/>
              </a:rPr>
              <a:t>0-30 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9199" y="4129087"/>
            <a:ext cx="35322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Prędkość Wiatru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9199" y="4376737"/>
            <a:ext cx="353224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Anemometer z czujnikiem kontaktronowym.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24625" y="2366962"/>
            <a:ext cx="505777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24625" y="3557587"/>
            <a:ext cx="505777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24625" y="4748212"/>
            <a:ext cx="5057775" cy="647700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24625" y="2366962"/>
            <a:ext cx="3810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24625" y="3557587"/>
            <a:ext cx="38100" cy="1000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1687"/>
            <a:ext cx="5534025" cy="361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309812"/>
            <a:ext cx="5057775" cy="3143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929187"/>
            <a:ext cx="104775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Architektura Sprzętowa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Wybór Platformy: Arduino vs Raspberry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2557462"/>
            <a:ext cx="5438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Wariant A: Arduino Uno / ESP32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2814637"/>
            <a:ext cx="47339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Niski pobór prądu, natychmiastowy start, praca deterministyczna w czasie rzeczywistym.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748087"/>
            <a:ext cx="5438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Wariant B: Raspberry Pi Zero /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4005262"/>
            <a:ext cx="47339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Zintegrowany serwer www, bazy danych SQLite/InfluxDB, zaawansowane skrypty Python.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550" y="4910137"/>
            <a:ext cx="4829175" cy="32385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Rekomendacja projektowa: ESP32 jako węzeł pomiarowy + Raspberry Pi jako serwer bazy danych.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0350"/>
            <a:ext cx="3505200" cy="223837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00350"/>
            <a:ext cx="3505200" cy="223837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00350"/>
            <a:ext cx="3505200" cy="223837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765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765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765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87" y="3209925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20992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962" y="3209925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Weryfikacja Sensorów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Wykorzystane Moduły Pomiarowe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2427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Czujnik DHT22 / BME280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724275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Anemometr Czaszy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724275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Moduł Transmisji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067175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Protokół: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1-Wire / I2C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324350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Temperatura: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Odczyt co 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581525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Napięcie: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3.3V – 5V 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4067175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Zasada: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Impulsy kontaktronu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4324350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Kalibracja: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2.4 km/h na 1 obr/s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9625" y="4581525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Interfejs: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Przerwanie GPIO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425" y="4067175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Łączność: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Wi-Fi 802.11 b/g/n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425" y="4324350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Opcjonalnie: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LoRa 868 MHz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3425" y="4581525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Format: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Payload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7075"/>
            <a:ext cx="2386012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1862" y="3267075"/>
            <a:ext cx="2386012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4125" y="3267075"/>
            <a:ext cx="2386012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96387" y="3267075"/>
            <a:ext cx="2386012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824287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824287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824287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Architektura Przepływu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Przepływ Danych w Systemie Telemetrycznym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004" y="3505200"/>
            <a:ext cx="238720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Space Mono"/>
              </a:rPr>
              <a:t>ETAP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324" y="3781425"/>
            <a:ext cx="250656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Pomiar Fizyczny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004" y="4029075"/>
            <a:ext cx="23872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Rejestracja sygnałów analogowych i cyfrowych.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1267" y="3505200"/>
            <a:ext cx="238720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Space Mono"/>
              </a:rPr>
              <a:t>ETAP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1587" y="3781425"/>
            <a:ext cx="250656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Przetwarzanie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1267" y="4029075"/>
            <a:ext cx="23872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Mikrokontroler przelicza impulsy na km/h i °C.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529" y="3505200"/>
            <a:ext cx="238720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Space Mono"/>
              </a:rPr>
              <a:t>ETAP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3849" y="3781425"/>
            <a:ext cx="250656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Wysyłka 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29" y="4029075"/>
            <a:ext cx="23872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Bezprzewodowy transfer ramki JSON do brokera.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5792" y="3505200"/>
            <a:ext cx="238720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Space Mono"/>
              </a:rPr>
              <a:t>ETAP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6112" y="3781425"/>
            <a:ext cx="250656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Wizualizacja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5792" y="4029075"/>
            <a:ext cx="238720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Wykresy w czasie rzeczywistym na pulpicie WWW.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90787"/>
            <a:ext cx="10972800" cy="28194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3925" y="3062287"/>
            <a:ext cx="1034415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738562"/>
            <a:ext cx="1034415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4414837"/>
            <a:ext cx="1034415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3925" y="3062287"/>
            <a:ext cx="206871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925" y="3738562"/>
            <a:ext cx="2068710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3925" y="4414837"/>
            <a:ext cx="8275290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Bilans Energetyczny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Pobór Prądu w Różnych Trybach Pracy (mA)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833937"/>
            <a:ext cx="112680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1" u="none">
                <a:solidFill>
                  <a:srgbClr val="64748B"/>
                </a:solidFill>
                <a:latin typeface="Inter"/>
              </a:rPr>
              <a:t>*Wniosek: Zastosowanie uśpienia pozwala na zasilanie z ogniwa Li-Ion z panelem słonecznym przez cały rok.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805112"/>
            <a:ext cx="3393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Tryb Głębokiego Uśpienia (Deep Sleep)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0" y="2805112"/>
            <a:ext cx="885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0.02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481387"/>
            <a:ext cx="3917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Pętla Pomiarowa Czujników (Active Sensing)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8975" y="3481387"/>
            <a:ext cx="7048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15 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157662"/>
            <a:ext cx="2928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Transmisja Wi-Fi / MQTT 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53725" y="4157662"/>
            <a:ext cx="8001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120 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76500"/>
            <a:ext cx="6413450" cy="2771775"/>
          </a:xfrm>
          <a:prstGeom prst="roundRect">
            <a:avLst>
              <a:gd name="adj" fmla="val 412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27850" y="2814637"/>
            <a:ext cx="4254549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27850" y="3938587"/>
            <a:ext cx="4254549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875" y="3033712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875" y="4157662"/>
            <a:ext cx="1143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Oprogramowanie Układowe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Algorytm Pomiaru Prędkości Wiatru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05100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Space Mono"/>
              </a:rPr>
              <a:t>// Obsługa przerwania kontaktronu anemometru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19425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Space Mono"/>
              </a:rPr>
              <a:t>volatile unsigned long</a:t>
            </a:r>
            <a:r>
              <a:rPr b="0" sz="1050" i="0" u="none">
                <a:solidFill>
                  <a:srgbClr val="F8FAFC"/>
                </a:solidFill>
                <a:latin typeface="Space Mono"/>
              </a:rPr>
              <a:t> rotationCount = 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219450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8BDF8"/>
                </a:solidFill>
                <a:latin typeface="Space Mono"/>
              </a:rPr>
              <a:t>void IRAM_ATTR</a:t>
            </a:r>
            <a:r>
              <a:rPr b="0" sz="1050" i="0" u="none">
                <a:solidFill>
                  <a:srgbClr val="F8FAFC"/>
                </a:solidFill>
                <a:latin typeface="Space Mono"/>
              </a:rPr>
              <a:t> countWind()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419475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Space Mono"/>
              </a:rPr>
              <a:t>  rotationCount++;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619500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Space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019550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Space Mono"/>
              </a:rPr>
              <a:t>float</a:t>
            </a:r>
            <a:r>
              <a:rPr b="0" sz="1050" i="0" u="none">
                <a:solidFill>
                  <a:srgbClr val="F8FAFC"/>
                </a:solidFill>
                <a:latin typeface="Space Mono"/>
              </a:rPr>
              <a:t> calculateWindSpeed(</a:t>
            </a:r>
            <a:r>
              <a:rPr b="0" sz="1050" i="0" u="none">
                <a:solidFill>
                  <a:srgbClr val="F43F5E"/>
                </a:solidFill>
                <a:latin typeface="Space Mono"/>
              </a:rPr>
              <a:t>int</a:t>
            </a:r>
            <a:r>
              <a:rPr b="0" sz="1050" i="0" u="none">
                <a:solidFill>
                  <a:srgbClr val="F8FAFC"/>
                </a:solidFill>
                <a:latin typeface="Space Mono"/>
              </a:rPr>
              <a:t> intervalSec)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219575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Space Mono"/>
              </a:rPr>
              <a:t>  </a:t>
            </a:r>
            <a:r>
              <a:rPr b="0" sz="1050" i="0" u="none">
                <a:solidFill>
                  <a:srgbClr val="F43F5E"/>
                </a:solidFill>
                <a:latin typeface="Space Mono"/>
              </a:rPr>
              <a:t>float</a:t>
            </a:r>
            <a:r>
              <a:rPr b="0" sz="1050" i="0" u="none">
                <a:solidFill>
                  <a:srgbClr val="F8FAFC"/>
                </a:solidFill>
                <a:latin typeface="Space Mono"/>
              </a:rPr>
              <a:t> rps = (</a:t>
            </a:r>
            <a:r>
              <a:rPr b="0" sz="1050" i="0" u="none">
                <a:solidFill>
                  <a:srgbClr val="F43F5E"/>
                </a:solidFill>
                <a:latin typeface="Space Mono"/>
              </a:rPr>
              <a:t>float</a:t>
            </a:r>
            <a:r>
              <a:rPr b="0" sz="1050" i="0" u="none">
                <a:solidFill>
                  <a:srgbClr val="F8FAFC"/>
                </a:solidFill>
                <a:latin typeface="Space Mono"/>
              </a:rPr>
              <a:t>)rotationCount / intervalSec;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419600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Space Mono"/>
              </a:rPr>
              <a:t>  rotationCount = 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619625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Space Mono"/>
              </a:rPr>
              <a:t>  </a:t>
            </a:r>
            <a:r>
              <a:rPr b="0" sz="1050" i="0" u="none">
                <a:solidFill>
                  <a:srgbClr val="38BDF8"/>
                </a:solidFill>
                <a:latin typeface="Space Mono"/>
              </a:rPr>
              <a:t>return</a:t>
            </a:r>
            <a:r>
              <a:rPr b="0" sz="1050" i="0" u="none">
                <a:solidFill>
                  <a:srgbClr val="F8FAFC"/>
                </a:solidFill>
                <a:latin typeface="Space Mono"/>
              </a:rPr>
              <a:t> rps * 2.4; </a:t>
            </a:r>
            <a:r>
              <a:rPr b="0" sz="1050" i="0" u="none">
                <a:solidFill>
                  <a:srgbClr val="64748B"/>
                </a:solidFill>
                <a:latin typeface="Space Mono"/>
              </a:rPr>
              <a:t>// Przelicznik na km/h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819650"/>
            <a:ext cx="7445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Space Mon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7875" y="3014662"/>
            <a:ext cx="4664124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Przerwania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7875" y="3262312"/>
            <a:ext cx="39497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Zapewniają zerowe ryzyko pominięcia impulsów podczas gwałtownych porywów wiatru.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7875" y="4138612"/>
            <a:ext cx="4664124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Filtrację Uśredniającą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7875" y="4386262"/>
            <a:ext cx="39497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Eliminacja drgań styków (debouncing) w kodzie zwiększa dokładność odczytów.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19350"/>
            <a:ext cx="505777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52825"/>
            <a:ext cx="505777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24375"/>
            <a:ext cx="5057775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5" y="2071687"/>
            <a:ext cx="553402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09812"/>
            <a:ext cx="5057775" cy="3143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Konstrukcja Mechaniczna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Obudowa i Odporność Atmosferyczna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619375"/>
            <a:ext cx="61132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Druk 3D PETG / 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876550"/>
            <a:ext cx="47529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Wytrzymałość na promieniowanie UV oraz wysokie temperatury zewnętrzne.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752850"/>
            <a:ext cx="61132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Osłona Radiacyjna (Stevensona)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10025"/>
            <a:ext cx="5822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Chroni czujnik temperatury przed bezpośrednim nasłonecznieniem.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724400"/>
            <a:ext cx="61132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Klasa Szczelności IP65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981575"/>
            <a:ext cx="58221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Dławiki kablowe i uszczelki silikonowe zabezpieczają elektronikę.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04037" y="2543175"/>
            <a:ext cx="4278362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04037" y="3486150"/>
            <a:ext cx="4278362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04037" y="4429125"/>
            <a:ext cx="4278362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1687"/>
            <a:ext cx="6389637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271712"/>
            <a:ext cx="5989587" cy="3219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Interfejs Użytkownika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Panel Telemetryczny IoT (Grafana / Blynk)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4062" y="2743200"/>
            <a:ext cx="4687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Wykresy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4062" y="2971800"/>
            <a:ext cx="4687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Aktualizacja wartości pomiarowych co 10 sekund.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4062" y="3686175"/>
            <a:ext cx="4687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Powiadomienia SMS /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4062" y="3914775"/>
            <a:ext cx="4687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Alert po przekroczeniu progu wiatru np. &gt; 50 km/h.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4062" y="4629150"/>
            <a:ext cx="4687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Archiwizacja Danych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4062" y="4857750"/>
            <a:ext cx="4687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Baza InfluxDB przechowuje dane historyczne.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52700"/>
            <a:ext cx="10972800" cy="2695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552700"/>
          <a:ext cx="10963273" cy="26955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88691"/>
                <a:gridCol w="2579489"/>
                <a:gridCol w="3856136"/>
                <a:gridCol w="2138957"/>
              </a:tblGrid>
              <a:tr h="4492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Element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Model / Typ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Rola w projekcie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Szacowany Koszt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492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Mikrokontroler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ESP32 NodeMCU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Główny procesor i moduł Wi-Fi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~ 25 PLN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2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Czujnik Klimatu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DHT22 / AM2302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Pomiar temperatury i wilgotności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~ 20 PLN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2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Anemometr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Czaszowy + Kontaktron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Pomiar prędkości wiatru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~ 45 PLN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2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Obudowa i Zasilanie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Druk 3D PETG + Li-Ion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Ochrona IP65 i zasilanie autonomiczne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Inter"/>
                        </a:rPr>
                        <a:t>~ 40 PLN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265"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Suma Całkowita Projektu: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~ 130 PLN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533400"/>
            <a:ext cx="11068050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Podsumowanie Projektu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Kosztorys i Zestawienie Komponentów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5775" y="4371975"/>
            <a:ext cx="3600450" cy="4476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3835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209800"/>
            <a:ext cx="333375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533900"/>
            <a:ext cx="133350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64396" y="2876550"/>
            <a:ext cx="566320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Dziękuję za Uwagę!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5" y="3609975"/>
            <a:ext cx="7143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Czy mają Państwo pytania dotyczące architektury, kodu lub kalibracji czujników stacji?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4318" y="4486275"/>
            <a:ext cx="404336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Space Mono"/>
              </a:rPr>
              <a:t>github.com/projekt-stacja-pogodowa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3650"/>
            <a:ext cx="9144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3462"/>
            <a:ext cx="5988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https://assets.skyfilabs.com/images/blog/mini-weather-station-using-arduino.jpg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3487"/>
            <a:ext cx="2512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www.skyfilabs.com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04987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https://media.printables.com/media/prints/177377/images/1671792_182fa78b-a74f-4451-8aeb-7eb673ffbab2/thumbs/inside/320x240/jpg/20220426_102951.webp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05012"/>
            <a:ext cx="2595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www.printables.com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76512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https://grafana.com/mw/_next/image/?url=https%3A%2F%2Fa-us.storyblok.com%2Ff%2F1022730%2F645d840f4c%2Fschmidweather7.jpg&amp;w=3840&amp;q=75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776537"/>
            <a:ext cx="1893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grafana.com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